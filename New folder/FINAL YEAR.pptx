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8" r:id="rId9"/>
    <p:sldId id="504" r:id="rId10"/>
    <p:sldId id="505" r:id="rId11"/>
    <p:sldId id="506" r:id="rId12"/>
    <p:sldId id="507" r:id="rId13"/>
    <p:sldId id="269" r:id="rId14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4801E-604E-4D63-A276-544B24523F1A}" v="1" dt="2026-01-30T05:03:38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>
        <p:scale>
          <a:sx n="75" d="100"/>
          <a:sy n="75" d="100"/>
        </p:scale>
        <p:origin x="1171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G ." userId="79024d455f025194" providerId="LiveId" clId="{F2D110F8-F359-4406-8C00-8BECC5FB925A}"/>
    <pc:docChg chg="custSel addSld modSld sldOrd">
      <pc:chgData name="CHIRAG ." userId="79024d455f025194" providerId="LiveId" clId="{F2D110F8-F359-4406-8C00-8BECC5FB925A}" dt="2026-01-30T05:04:47.149" v="22"/>
      <pc:docMkLst>
        <pc:docMk/>
      </pc:docMkLst>
      <pc:sldChg chg="modSp mod">
        <pc:chgData name="CHIRAG ." userId="79024d455f025194" providerId="LiveId" clId="{F2D110F8-F359-4406-8C00-8BECC5FB925A}" dt="2026-01-29T09:27:46.602" v="4" actId="5793"/>
        <pc:sldMkLst>
          <pc:docMk/>
          <pc:sldMk cId="3295812248" sldId="502"/>
        </pc:sldMkLst>
        <pc:spChg chg="mod">
          <ac:chgData name="CHIRAG ." userId="79024d455f025194" providerId="LiveId" clId="{F2D110F8-F359-4406-8C00-8BECC5FB925A}" dt="2026-01-29T09:27:46.602" v="4" actId="5793"/>
          <ac:spMkLst>
            <pc:docMk/>
            <pc:sldMk cId="3295812248" sldId="502"/>
            <ac:spMk id="2" creationId="{58F04363-4FA7-C37C-830E-F9A8BDCF2C19}"/>
          </ac:spMkLst>
        </pc:spChg>
      </pc:sldChg>
      <pc:sldChg chg="modSp mod">
        <pc:chgData name="CHIRAG ." userId="79024d455f025194" providerId="LiveId" clId="{F2D110F8-F359-4406-8C00-8BECC5FB925A}" dt="2026-01-29T09:28:09.182" v="5" actId="2710"/>
        <pc:sldMkLst>
          <pc:docMk/>
          <pc:sldMk cId="2093371696" sldId="503"/>
        </pc:sldMkLst>
        <pc:spChg chg="mod">
          <ac:chgData name="CHIRAG ." userId="79024d455f025194" providerId="LiveId" clId="{F2D110F8-F359-4406-8C00-8BECC5FB925A}" dt="2026-01-29T09:28:09.182" v="5" actId="2710"/>
          <ac:spMkLst>
            <pc:docMk/>
            <pc:sldMk cId="2093371696" sldId="503"/>
            <ac:spMk id="3" creationId="{2D694596-E7D9-0218-3D1F-E371CB233F9C}"/>
          </ac:spMkLst>
        </pc:spChg>
      </pc:sldChg>
      <pc:sldChg chg="modSp mod ord">
        <pc:chgData name="CHIRAG ." userId="79024d455f025194" providerId="LiveId" clId="{F2D110F8-F359-4406-8C00-8BECC5FB925A}" dt="2026-01-30T05:04:43.872" v="20"/>
        <pc:sldMkLst>
          <pc:docMk/>
          <pc:sldMk cId="3449068858" sldId="504"/>
        </pc:sldMkLst>
        <pc:spChg chg="mod">
          <ac:chgData name="CHIRAG ." userId="79024d455f025194" providerId="LiveId" clId="{F2D110F8-F359-4406-8C00-8BECC5FB925A}" dt="2026-01-29T09:28:20.055" v="6" actId="2710"/>
          <ac:spMkLst>
            <pc:docMk/>
            <pc:sldMk cId="3449068858" sldId="504"/>
            <ac:spMk id="2" creationId="{B6F40FE3-14A7-A45C-36C9-4973F09DC4F6}"/>
          </ac:spMkLst>
        </pc:spChg>
      </pc:sldChg>
      <pc:sldChg chg="addSp delSp modSp new mod ord">
        <pc:chgData name="CHIRAG ." userId="79024d455f025194" providerId="LiveId" clId="{F2D110F8-F359-4406-8C00-8BECC5FB925A}" dt="2026-01-30T05:04:47.149" v="22"/>
        <pc:sldMkLst>
          <pc:docMk/>
          <pc:sldMk cId="3542983815" sldId="508"/>
        </pc:sldMkLst>
        <pc:spChg chg="del">
          <ac:chgData name="CHIRAG ." userId="79024d455f025194" providerId="LiveId" clId="{F2D110F8-F359-4406-8C00-8BECC5FB925A}" dt="2026-01-30T05:03:46.200" v="10" actId="478"/>
          <ac:spMkLst>
            <pc:docMk/>
            <pc:sldMk cId="3542983815" sldId="508"/>
            <ac:spMk id="2" creationId="{889FB8FD-305A-C348-FC02-A2E341A17728}"/>
          </ac:spMkLst>
        </pc:spChg>
        <pc:spChg chg="del">
          <ac:chgData name="CHIRAG ." userId="79024d455f025194" providerId="LiveId" clId="{F2D110F8-F359-4406-8C00-8BECC5FB925A}" dt="2026-01-30T05:03:38.977" v="8" actId="931"/>
          <ac:spMkLst>
            <pc:docMk/>
            <pc:sldMk cId="3542983815" sldId="508"/>
            <ac:spMk id="3" creationId="{EFB6E35F-847B-1EF1-BCBA-66A0D516C79D}"/>
          </ac:spMkLst>
        </pc:spChg>
        <pc:picChg chg="add mod modCrop">
          <ac:chgData name="CHIRAG ." userId="79024d455f025194" providerId="LiveId" clId="{F2D110F8-F359-4406-8C00-8BECC5FB925A}" dt="2026-01-30T05:04:26.615" v="16" actId="14100"/>
          <ac:picMkLst>
            <pc:docMk/>
            <pc:sldMk cId="3542983815" sldId="508"/>
            <ac:picMk id="5" creationId="{68CBF214-2F0E-6717-29D2-9F8AE231B7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pPr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023670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2301201089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2301201125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RAGHVENDRA SINGH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371600" y="1143001"/>
            <a:ext cx="6781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SzPct val="25000"/>
            </a:pPr>
            <a:r>
              <a:rPr lang="en-US" sz="2400" b="1" dirty="0"/>
              <a:t>Quantum-Enhanced Anomaly Detection for QoS Degradation in Microservices Applications</a:t>
            </a:r>
          </a:p>
          <a:p>
            <a:pPr lvl="0" algn="ctr">
              <a:buSzPct val="25000"/>
            </a:pPr>
            <a:endParaRPr lang="en-IN" sz="32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MS. Jyoti Yadav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82296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Microservices produce massive, diverse, and rapidly changing runtime data.</a:t>
            </a:r>
          </a:p>
          <a:p>
            <a:endParaRPr lang="en-US" sz="2800" dirty="0"/>
          </a:p>
          <a:p>
            <a:r>
              <a:rPr lang="en-US" sz="2400" b="1" dirty="0"/>
              <a:t>The Struggle:</a:t>
            </a:r>
            <a:r>
              <a:rPr lang="en-US" sz="2400" dirty="0"/>
              <a:t> Traditional ML/DL fails to handle the complex, nonlinear interactions between distributed services.</a:t>
            </a:r>
          </a:p>
          <a:p>
            <a:r>
              <a:rPr lang="en-US" sz="2400" b="1" dirty="0"/>
              <a:t>The Bottleneck:</a:t>
            </a:r>
            <a:r>
              <a:rPr lang="en-US" sz="2400" dirty="0"/>
              <a:t> Classical models require manual feature engineering; Deep Learning requires massive labeled data (rarely available).</a:t>
            </a:r>
          </a:p>
          <a:p>
            <a:r>
              <a:rPr lang="en-US" sz="2400" b="1" dirty="0"/>
              <a:t>The Result:</a:t>
            </a:r>
            <a:r>
              <a:rPr lang="en-US" sz="2400" dirty="0"/>
              <a:t> High overhead and slow detection, leading to unreliable system performance.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6B00C9-B356-3699-E058-732CB91F01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" y="1603951"/>
            <a:ext cx="84582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Distributed Nature: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how service interactions lead to QoS degradation.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Anomalies: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Categorize failures into Performance (latency) and Resource (CPU/Memory)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Advanced 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Quantum-enhanced techniques to bridge the gap left by classical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Quantum vs. Classical models for reliability and speed.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7768" y="216995"/>
            <a:ext cx="439248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400" b="1" dirty="0"/>
              <a:t>Proposed Solution</a:t>
            </a:r>
            <a:endParaRPr lang="en-IN" sz="34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361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" y="1434643"/>
            <a:ext cx="9144000" cy="424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/>
              <a:t>Framework:</a:t>
            </a:r>
            <a:r>
              <a:rPr lang="en-IN" sz="2800" dirty="0"/>
              <a:t> A dedicated microservices anomaly detection framework.</a:t>
            </a:r>
          </a:p>
          <a:p>
            <a:r>
              <a:rPr lang="en-IN" sz="2800" b="1" dirty="0"/>
              <a:t>Quantum Integration:</a:t>
            </a:r>
            <a:r>
              <a:rPr lang="en-IN" sz="2800" dirty="0"/>
              <a:t> Using Quantum Machine Learning (QML) to process high-dimensional telemetry data.</a:t>
            </a:r>
          </a:p>
          <a:p>
            <a:r>
              <a:rPr lang="en-IN" sz="2800" b="1" dirty="0"/>
              <a:t>Experimental Benchmarking:</a:t>
            </a:r>
            <a:r>
              <a:rPr lang="en-IN" sz="2800" dirty="0"/>
              <a:t> Comparing detection performance using real or simulated microservices data.</a:t>
            </a:r>
          </a:p>
          <a:p>
            <a:r>
              <a:rPr lang="en-IN" sz="2800" b="1" dirty="0"/>
              <a:t>Deliverables:</a:t>
            </a:r>
            <a:r>
              <a:rPr lang="en-IN" sz="2800" dirty="0"/>
              <a:t> Implementation code, performance results, and system documentation.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94057"/>
            <a:ext cx="50048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/>
              <a:t>Why "Quantum-Enhanced"?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97768" y="205987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04363-4FA7-C37C-830E-F9A8BDCF2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247067"/>
            <a:ext cx="8603332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Non-linear Mapping: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circuits are mathematically superior at finding patterns in distributed "noise.“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Efficiency: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often detect anomalies with smaller datasets compared to Deep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Space: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Hilbert Space to separate "Normal" from "Anomalous" behavior more clearly.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/>
              <a:t>Technology Stack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694596-E7D9-0218-3D1F-E371CB233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66" y="1286849"/>
            <a:ext cx="7848453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(Docker, Kubernetes)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Layer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PennyLane (Quantum Simulators)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(NumPy, Pandas, 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Monitoring: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Prometheus or Synthetic Trace Data</a:t>
            </a: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CBF214-2F0E-6717-29D2-9F8AE231B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6" r="4839" b="12903"/>
          <a:stretch>
            <a:fillRect/>
          </a:stretch>
        </p:blipFill>
        <p:spPr>
          <a:xfrm>
            <a:off x="2133600" y="152400"/>
            <a:ext cx="4648200" cy="6605337"/>
          </a:xfrm>
        </p:spPr>
      </p:pic>
    </p:spTree>
    <p:extLst>
      <p:ext uri="{BB962C8B-B14F-4D97-AF65-F5344CB8AC3E}">
        <p14:creationId xmlns:p14="http://schemas.microsoft.com/office/powerpoint/2010/main" val="3542983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1" y="304800"/>
            <a:ext cx="439248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IN" sz="3200" b="1" dirty="0"/>
              <a:t>Expected Outcomes</a:t>
            </a:r>
          </a:p>
          <a:p>
            <a:pPr lvl="0">
              <a:buSzPct val="25000"/>
            </a:pP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F40FE3-14A7-A45C-36C9-4973F09DC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1384123"/>
            <a:ext cx="9391328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detection of QoS degradation.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failures before they cascade through the system.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Insight: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Feasibility of using Quantum models in real-world DevOps 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43000"/>
            <a:ext cx="8915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project was developed using the MERN stack following a structured approach. Initially, system requirements were analyzed to understand inventory management needs. The application architecture was designed with role-based access for Admin and Normal Users. The frontend was developed using React.js to provide a responsive and user-friendly interface. Backend services were implemented using Node.js and Express.js to handle business logic and REST APIs. </a:t>
            </a:r>
            <a:r>
              <a:rPr lang="en-US" sz="2400" dirty="0" err="1"/>
              <a:t>MongoDB</a:t>
            </a:r>
            <a:r>
              <a:rPr lang="en-US" sz="2400" dirty="0"/>
              <a:t> was used for secure data storage. Authentication was implemented using JWT and Google </a:t>
            </a:r>
            <a:r>
              <a:rPr lang="en-US" sz="2400" dirty="0" err="1"/>
              <a:t>OAuth</a:t>
            </a:r>
            <a:r>
              <a:rPr lang="en-US" sz="2400" dirty="0"/>
              <a:t>. Finally, the system was tested and validated to ensure secure access, accurate inventory management, and proper functionality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1447800"/>
            <a:ext cx="8534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Expected Results:</a:t>
            </a:r>
            <a:endParaRPr lang="en-US" sz="2400" dirty="0"/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400" dirty="0"/>
              <a:t>Successful authentication using Email/Password and Google </a:t>
            </a:r>
            <a:r>
              <a:rPr lang="en-US" sz="2400" dirty="0" err="1"/>
              <a:t>OAuth</a:t>
            </a:r>
            <a:endParaRPr lang="en-US" sz="2400" dirty="0"/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400" dirty="0"/>
              <a:t>Accurate role identification for Admin and Normal Users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400" dirty="0"/>
              <a:t>Real-time inventory updates after product or order operations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Impact:</a:t>
            </a:r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Improves efficiency of warehouse inventory management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Reduces operational errors and stock inconsistencies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Enhances decision-making using analytical dashboards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C42AB-18CA-0963-DBE1-ABF7FDD5C215}"/>
              </a:ext>
            </a:extLst>
          </p:cNvPr>
          <p:cNvSpPr txBox="1"/>
          <p:nvPr/>
        </p:nvSpPr>
        <p:spPr>
          <a:xfrm>
            <a:off x="179512" y="1274263"/>
            <a:ext cx="8583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Phase 1 (Week 1–2): </a:t>
            </a:r>
            <a:r>
              <a:rPr lang="en-IN" sz="2400" dirty="0"/>
              <a:t>Exploration &amp; Planning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/>
              <a:t>Phase 2 (Week 3–4):</a:t>
            </a:r>
            <a:r>
              <a:rPr lang="en-US" sz="2400" dirty="0"/>
              <a:t> </a:t>
            </a:r>
            <a:r>
              <a:rPr lang="en-IN" sz="2400" dirty="0"/>
              <a:t>Environment Setup &amp; Data Preparation </a:t>
            </a:r>
          </a:p>
          <a:p>
            <a:pPr algn="just"/>
            <a:r>
              <a:rPr lang="en-US" sz="2400" b="1" dirty="0"/>
              <a:t>Phase 3 (Week 5–7):</a:t>
            </a:r>
            <a:r>
              <a:rPr lang="en-US" sz="2400" dirty="0"/>
              <a:t> </a:t>
            </a:r>
            <a:r>
              <a:rPr lang="en-IN" sz="2400" dirty="0"/>
              <a:t>Implementation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/>
              <a:t>Phase 4 (Week 8-9): </a:t>
            </a:r>
            <a:r>
              <a:rPr lang="en-IN" sz="2400" dirty="0"/>
              <a:t>Evaluation &amp; Testing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/>
              <a:t>Phase 5 (Week 10): </a:t>
            </a:r>
            <a:r>
              <a:rPr lang="en-IN" sz="2400" dirty="0"/>
              <a:t>Documentation &amp; Presentation</a:t>
            </a:r>
            <a:r>
              <a:rPr lang="en-US" sz="24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8833</TotalTime>
  <Words>637</Words>
  <Application>Microsoft Office PowerPoint</Application>
  <PresentationFormat>On-screen Show (4:3)</PresentationFormat>
  <Paragraphs>93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CHIRAG .</cp:lastModifiedBy>
  <cp:revision>312</cp:revision>
  <cp:lastPrinted>2022-09-05T08:43:44Z</cp:lastPrinted>
  <dcterms:created xsi:type="dcterms:W3CDTF">2020-01-16T09:05:56Z</dcterms:created>
  <dcterms:modified xsi:type="dcterms:W3CDTF">2026-01-30T05:04:49Z</dcterms:modified>
</cp:coreProperties>
</file>